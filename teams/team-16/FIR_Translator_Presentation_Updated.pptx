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1188720" cy="347472"/>
          </a:xfrm>
          <a:prstGeom prst="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FIR Narrative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 &amp; Simplifier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02920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legal documents accessible to every citizen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18288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337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Srujana Pagi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Sinchana V M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Prasad Morab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Shreeniketh Joshi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63931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· 01FE23BCS058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· 01FE23BCS067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· 01FE23BCS094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· 01FE23BCS376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246120"/>
            <a:ext cx="27432" cy="169164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6393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Guruprasad Konnurmath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documents filed by police are filled with dense legal terminology — IPC/BNS section numbers, formal legal language, and procedural jargon. Ordinary complainants and accused persons cannot understand what these documents actually say or what rights they have.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20040" y="2606040"/>
            <a:ext cx="2743200" cy="214884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2606040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jargon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200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IPC/BNS sections are incomprehensible to the average citizen without a law degree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2606040"/>
            <a:ext cx="2743200" cy="214884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2606040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discrepancy check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83280" y="3200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between police narrative and complainant statement go undetected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2606040"/>
            <a:ext cx="2743200" cy="214884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2606040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3200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 English are inaccessible to Hindi and Kannada speaking citizens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pipeline that transforms complex FIR documents into plain, multilingual, legally explained reports — accessible to every citizen.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783080"/>
            <a:ext cx="2651760" cy="132588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0391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ingestion &amp; parsing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image, raw text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72968" y="1783080"/>
            <a:ext cx="2651760" cy="132588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03911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67328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767328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section, citizen-readable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25896" y="1783080"/>
            <a:ext cx="2651760" cy="132588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03911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0256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IPC/BNS section lookup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620256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+ punishment + bail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20040" y="3291840"/>
            <a:ext cx="2651760" cy="132588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5478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detection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14400" y="3886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vs. complainant facts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172968" y="3291840"/>
            <a:ext cx="2651760" cy="132588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54787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67328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Dual-language output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767328" y="3886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Hindi / Kannada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6032" y="1417320"/>
            <a:ext cx="138988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16002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2011680"/>
            <a:ext cx="102412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207568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file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2098548"/>
            <a:ext cx="27432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9" name="Shape 7"/>
          <p:cNvSpPr/>
          <p:nvPr/>
        </p:nvSpPr>
        <p:spPr>
          <a:xfrm>
            <a:off x="1810512" y="2007108"/>
            <a:ext cx="0" cy="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1920240" y="1417320"/>
            <a:ext cx="1389888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6002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03120" y="2011680"/>
            <a:ext cx="102412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207568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128" y="2098548"/>
            <a:ext cx="27432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2007108"/>
            <a:ext cx="0" cy="0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3584448" y="1417320"/>
            <a:ext cx="1389888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584448" y="16002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67328" y="2011680"/>
            <a:ext cx="102412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207568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74336" y="2098548"/>
            <a:ext cx="27432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1" name="Shape 19"/>
          <p:cNvSpPr/>
          <p:nvPr/>
        </p:nvSpPr>
        <p:spPr>
          <a:xfrm>
            <a:off x="5138928" y="2007108"/>
            <a:ext cx="0" cy="0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5248656" y="1417320"/>
            <a:ext cx="1389888" cy="1417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5248656" y="16002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31536" y="2011680"/>
            <a:ext cx="102412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48656" y="207568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 DB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38544" y="2098548"/>
            <a:ext cx="27432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7" name="Shape 25"/>
          <p:cNvSpPr/>
          <p:nvPr/>
        </p:nvSpPr>
        <p:spPr>
          <a:xfrm>
            <a:off x="6803136" y="2007108"/>
            <a:ext cx="0" cy="0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6912864" y="1417320"/>
            <a:ext cx="1389888" cy="14173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9" name="Text 27"/>
          <p:cNvSpPr/>
          <p:nvPr/>
        </p:nvSpPr>
        <p:spPr>
          <a:xfrm>
            <a:off x="6912864" y="16002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095744" y="2011680"/>
            <a:ext cx="102412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12864" y="207568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108960"/>
            <a:ext cx="8631936" cy="73152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10896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knowledge base:  IPC/BNS Database  ·  NCRB Dataset  ·  ILDC 35k+ SC Judgments  ·  IndicCorp FIR Text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56032" y="3950208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LangChain multi-agent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Architecture Diagram</a:t>
            </a:r>
            <a:endParaRPr lang="en-US" sz="3200" dirty="0"/>
          </a:p>
        </p:txBody>
      </p:sp>
      <p:pic>
        <p:nvPicPr>
          <p:cNvPr id="4" name="Image 0" descr="/mnt/user-data/uploads/1780169444794_image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2743200" cy="1572768"/>
          </a:xfrm>
          <a:prstGeom prst="rect">
            <a:avLst/>
          </a:prstGeom>
          <a:solidFill>
            <a:srgbClr val="EAF6F6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70432"/>
            <a:ext cx="274320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609344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(dashboard)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63824" y="1170432"/>
            <a:ext cx="2743200" cy="1572768"/>
          </a:xfrm>
          <a:prstGeom prst="rect">
            <a:avLst/>
          </a:prstGeom>
          <a:solidFill>
            <a:srgbClr val="EAF6F6"/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63824" y="1170432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163824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00984" y="1609344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(multi-agent)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170432"/>
            <a:ext cx="2743200" cy="1572768"/>
          </a:xfrm>
          <a:prstGeom prst="rect">
            <a:avLst/>
          </a:prstGeom>
          <a:solidFill>
            <a:srgbClr val="EAF6F6"/>
          </a:solidFill>
          <a:ln w="762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170432"/>
            <a:ext cx="2743200" cy="38404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6071616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08776" y="1609344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via Ollama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926080"/>
            <a:ext cx="2743200" cy="1572768"/>
          </a:xfrm>
          <a:prstGeom prst="rect">
            <a:avLst/>
          </a:prstGeom>
          <a:solidFill>
            <a:srgbClr val="EAF6F6"/>
          </a:solidFill>
          <a:ln w="7620">
            <a:solidFill>
              <a:srgbClr val="0079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926080"/>
            <a:ext cx="2743200" cy="38404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2926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Parsing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" y="3364992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/ PyPDF2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63824" y="2926080"/>
            <a:ext cx="2743200" cy="1572768"/>
          </a:xfrm>
          <a:prstGeom prst="rect">
            <a:avLst/>
          </a:prstGeom>
          <a:solidFill>
            <a:srgbClr val="EAF6F6"/>
          </a:solidFill>
          <a:ln w="7620">
            <a:solidFill>
              <a:srgbClr val="006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3824" y="2926080"/>
            <a:ext cx="2743200" cy="38404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2" name="Text 20"/>
          <p:cNvSpPr/>
          <p:nvPr/>
        </p:nvSpPr>
        <p:spPr>
          <a:xfrm>
            <a:off x="3163824" y="2926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Embeddings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00984" y="3364992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71616" y="2926080"/>
            <a:ext cx="2743200" cy="1572768"/>
          </a:xfrm>
          <a:prstGeom prst="rect">
            <a:avLst/>
          </a:prstGeom>
          <a:solidFill>
            <a:srgbClr val="EAF6F6"/>
          </a:solidFill>
          <a:ln w="7620">
            <a:solidFill>
              <a:srgbClr val="004D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1616" y="2926080"/>
            <a:ext cx="2743200" cy="384048"/>
          </a:xfrm>
          <a:prstGeom prst="rect">
            <a:avLst/>
          </a:prstGeom>
          <a:solidFill>
            <a:srgbClr val="004D40"/>
          </a:solidFill>
          <a:ln/>
        </p:spPr>
      </p:sp>
      <p:sp>
        <p:nvSpPr>
          <p:cNvPr id="26" name="Text 24"/>
          <p:cNvSpPr/>
          <p:nvPr/>
        </p:nvSpPr>
        <p:spPr>
          <a:xfrm>
            <a:off x="6071616" y="2926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08776" y="3364992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IndicTrans2 (ai4bharat)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Kannada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EAF6F6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91440" cy="80467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070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Nyaya Sanhita (BNS) Dataset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57276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Knowledge Base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1234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BNS dataset is the legal knowledge base of our system, containing official section data used to build a FAISS-based RAG system.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066544"/>
            <a:ext cx="8595360" cy="804672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2066544"/>
            <a:ext cx="91440" cy="80467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494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1305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Contents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" y="249631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structured fields per section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0" y="215798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 Section Numbers · Offence Names · Legal Definitions · Description of Sections · Punishment Information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74320" y="2990088"/>
            <a:ext cx="8595360" cy="804672"/>
          </a:xfrm>
          <a:prstGeom prst="rect">
            <a:avLst/>
          </a:prstGeom>
          <a:solidFill>
            <a:srgbClr val="EAF6F6"/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4320" y="2990088"/>
            <a:ext cx="91440" cy="804672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7296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05409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Database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05840" y="34198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retrieval system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0" y="30815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 sections are converted into embeddings and stored in a vector database for fast semantic retrieval during FIR processing.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74320" y="3913632"/>
            <a:ext cx="8595360" cy="804672"/>
          </a:xfrm>
          <a:prstGeom prst="rect">
            <a:avLst/>
          </a:prstGeom>
          <a:solidFill>
            <a:srgbClr val="EAF6F6"/>
          </a:solidFill>
          <a:ln w="6350">
            <a:solidFill>
              <a:srgbClr val="00796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74320" y="3913632"/>
            <a:ext cx="91440" cy="804672"/>
          </a:xfrm>
          <a:prstGeom prst="rect">
            <a:avLst/>
          </a:prstGeom>
          <a:solidFill>
            <a:srgbClr val="00796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9651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5840" y="39776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005840" y="43434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upload triggers retrieval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0" y="400507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an FIR is uploaded, the system retrieves the most relevant BNS sections and provides accurate legal explanations based on official legal data.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09728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527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216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Simplified FIR Summary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11480" y="16002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complex legal language into plain language understandable by common citizens. Example: “The accused is alleged to have stolen a motorcycle.”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404872"/>
            <a:ext cx="4206240" cy="109728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146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478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BNS Section Identification &amp; Explanation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11480" y="28620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applicable BNS sections (e.g. Section 303) and provides a plain-language explanation. Example: “This section deals with theft, taking another person’s property without permission.”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4320" y="3666744"/>
            <a:ext cx="4206240" cy="1097280"/>
          </a:xfrm>
          <a:prstGeom prst="rect">
            <a:avLst/>
          </a:prstGeom>
          <a:solidFill>
            <a:srgbClr val="EAF6F6"/>
          </a:solidFill>
          <a:ln w="6350">
            <a:solidFill>
              <a:srgbClr val="02809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7647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7398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Punishment Info, Discrepancy &amp; Multilingual Report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11480" y="412394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punishment for each section. Flags factual differences between complainant statement and FIR narrative. Generates final report in English, Hindi, and Kannada.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54880" y="1143000"/>
            <a:ext cx="4114800" cy="36576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7" name="Text 12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37760" y="1719072"/>
            <a:ext cx="1783080" cy="777240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4937760" y="171907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FIR Summary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885432" y="1719072"/>
            <a:ext cx="1783080" cy="77724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6885432" y="171907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 Section ID &amp; Explanation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937760" y="2724912"/>
            <a:ext cx="1783080" cy="777240"/>
          </a:xfrm>
          <a:prstGeom prst="rect">
            <a:avLst/>
          </a:prstGeom>
          <a:solidFill>
            <a:srgbClr val="00897B">
              <a:alpha val="85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4937760" y="272491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 Information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885432" y="2724912"/>
            <a:ext cx="1783080" cy="777240"/>
          </a:xfrm>
          <a:prstGeom prst="rect">
            <a:avLst/>
          </a:prstGeom>
          <a:solidFill>
            <a:srgbClr val="E74C3C">
              <a:alpha val="85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6885432" y="272491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Report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937760" y="3730752"/>
            <a:ext cx="1783080" cy="777240"/>
          </a:xfrm>
          <a:prstGeom prst="rect">
            <a:avLst/>
          </a:prstGeom>
          <a:solidFill>
            <a:srgbClr val="00796B">
              <a:alpha val="85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4937760" y="37307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/ Kannada Output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885432" y="3730752"/>
            <a:ext cx="1783080" cy="777240"/>
          </a:xfrm>
          <a:prstGeom prst="rect">
            <a:avLst/>
          </a:prstGeom>
          <a:solidFill>
            <a:srgbClr val="F39C12">
              <a:alpha val="8500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6885432" y="37307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Vision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35,000+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judgments in training corpus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1993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 (EN / HI / KN)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126480" y="1993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 panels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69748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Complainants who filed an FIR and cannot parse the legal document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 persons who need to understand the charges against them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Advocates who need a quick structured summary before a hearing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aid NGOs supporting underserved communities in rural India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Police FIR Narrative Translator and Simplifier</dc:title>
  <dc:subject>PptxGenJS Presentation</dc:subject>
  <dc:creator>PptxGenJS</dc:creator>
  <cp:lastModifiedBy>PptxGenJS</cp:lastModifiedBy>
  <cp:revision>1</cp:revision>
  <dcterms:created xsi:type="dcterms:W3CDTF">2026-05-30T19:31:24Z</dcterms:created>
  <dcterms:modified xsi:type="dcterms:W3CDTF">2026-05-30T19:31:24Z</dcterms:modified>
</cp:coreProperties>
</file>